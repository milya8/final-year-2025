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119236-0F4C-49A8-A205-88FBCC0EFE67}">
  <a:tblStyle styleId="{48119236-0F4C-49A8-A205-88FBCC0EFE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99d79be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99d79be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99d79be5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99d79be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99d79be5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99d79be5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99d79be5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99d79be5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99d79be5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99d79be5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99d79be5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99d79be5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99d79be5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99d79be5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99d79be5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99d79be5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209a45f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209a45f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209a45f1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209a45f1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209a45f1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209a45f1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209a45f1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209a45f1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209a45f1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209a45f1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209a45f1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209a45f1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Conductors at RF and Transmission Lines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DC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Resistance = Length / (Conductivity * Cross Sectional Area)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Resistance = </a:t>
            </a:r>
            <a:r>
              <a:rPr lang="en"/>
              <a:t>Length * Resistivity / CSA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 DC, whole conductor is used to carry the current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AC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Resistance increases with frequency because of skin effect (inductance)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XL = jwL where w = 2pi f ao XL = j 2 pi fL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RF current flow migrate to the outer edge of the conductor to flow along path with </a:t>
            </a:r>
            <a:r>
              <a:rPr lang="en"/>
              <a:t>least</a:t>
            </a:r>
            <a:r>
              <a:rPr lang="en"/>
              <a:t> resistance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Skin Depth Formula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Screenshot 2025-10-07 at 5.44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50" y="1293500"/>
            <a:ext cx="5157000" cy="313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Transmission Lines	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TV and RF cables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Microstrip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Twisted Pair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of Transmission Lines	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Length of cable &gt;0.1 lambda (1/10 of wavelength of transmitted signal)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not: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Reflection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Radiation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 Impedance 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transmission line of infinite length, what happens when a battery is connected?</a:t>
            </a:r>
            <a:endParaRPr/>
          </a:p>
        </p:txBody>
      </p:sp>
      <p:pic>
        <p:nvPicPr>
          <p:cNvPr id="93" name="Google Shape;93;p19" title="Screenshot 2025-10-07 at 5.59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075" y="2028825"/>
            <a:ext cx="64198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 title="Screenshot 2025-10-07 at 5.59.5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1875" y="3114675"/>
            <a:ext cx="2800350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Transmission Line Models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Zs = input impedance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Zo = characteristic impedance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ZL = load impedance </a:t>
            </a:r>
            <a:endParaRPr/>
          </a:p>
        </p:txBody>
      </p:sp>
      <p:pic>
        <p:nvPicPr>
          <p:cNvPr id="101" name="Google Shape;101;p20" title="Screenshot 2025-10-07 at 6.01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07062"/>
            <a:ext cx="3889550" cy="37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 title="Reflection,000coefficient, =(1_IN-Z0)(ZIN+ZO)=ZlZ--₀ZL+Z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5851"/>
            <a:ext cx="9143999" cy="2629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dBs and Link Budgets</a:t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dB?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dBs compress the dynamic range and put everything on the same scale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3" title="Screenshot 2025-11-10 at 4.32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0850" y="2016725"/>
            <a:ext cx="5762025" cy="255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Transmit &amp; </a:t>
            </a:r>
            <a:r>
              <a:rPr lang="en"/>
              <a:t>Receive </a:t>
            </a:r>
            <a:r>
              <a:rPr lang="en"/>
              <a:t>Power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8" name="Google Shape;128;p24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{48119236-0F4C-49A8-A205-88FBCC0EFE67}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Communication Systems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Received Power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Transmit Power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GSM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-51dBm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Varies @ 900 &amp; 1800MHz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-155 dBW (-125dBm)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25.6W @ 1573MHz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WiFi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-75 dBm or better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100mW (1W) @ 2.4GHz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Voyager Space Ships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-231dBm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18W @ 8GHz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Thermal Noise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 title="Screenshot 2025-11-10 at 4.40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90625"/>
            <a:ext cx="822960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Noise Factor &amp; Figure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6" title="Screenshot 2025-11-10 at 4.43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300" y="1240825"/>
            <a:ext cx="5364075" cy="348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Loss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is distance from transmitter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Lambda is c/f </a:t>
            </a:r>
            <a:endParaRPr/>
          </a:p>
        </p:txBody>
      </p:sp>
      <p:pic>
        <p:nvPicPr>
          <p:cNvPr id="149" name="Google Shape;149;p27" title="Screenshot 2025-11-10 at 4.43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100" y="2356550"/>
            <a:ext cx="60198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