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CBE010-3C8A-4F43-9C22-14F049160CDE}">
  <a:tblStyle styleId="{C1CBE010-3C8A-4F43-9C22-14F049160CD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99d79be5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99d79be5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99d79be5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99d79be5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899d79be5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899d79be5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899d79be5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899d79be5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899d79be5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899d79be5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899d79be5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899d79be5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899d79be5a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899d79be5a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899d79be5a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899d79be5a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209a45f1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a209a45f1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209a45f1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a209a45f1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209a45f1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a209a45f1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a209a45f12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a209a45f12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209a45f1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209a45f1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209a45f12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209a45f12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577f7e4d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a577f7e4d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577f7e4d8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a577f7e4d8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a577f7e4d8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a577f7e4d8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577f7e4d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a577f7e4d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577f7e4d8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a577f7e4d8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577f7e4d8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a577f7e4d8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577f7e4d8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a577f7e4d8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a577f7e4d8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a577f7e4d8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Conductors at RF and Transmission Lines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DC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Resistance = Length / (Conductivity * Cross Sectional Area)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Resistance = </a:t>
            </a:r>
            <a:r>
              <a:rPr lang="en"/>
              <a:t>Length * Resistivity / CSA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At DC, whole conductor is used to carry the current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AC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Resistance increases with frequency because of skin effect (inductance)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XL = jwL where w = 2pi f ao XL = j 2 pi fL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RF current flow migrate to the outer edge of the conductor to flow along path with </a:t>
            </a:r>
            <a:r>
              <a:rPr lang="en"/>
              <a:t>least</a:t>
            </a:r>
            <a:r>
              <a:rPr lang="en"/>
              <a:t> resistance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Skin Depth Formula 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4" name="Google Shape;74;p16" title="Screenshot 2025-10-07 at 5.44.1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0150" y="1293500"/>
            <a:ext cx="5157000" cy="313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Transmission Lines	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TV and RF cables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Microstrip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Twisted Pair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of Transmission Lines	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Length of cable &gt;0.1 lambda (1/10 of wavelength of transmitted signal)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not: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Reflection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Radiation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Characteristic Impedance </a:t>
            </a:r>
            <a:endParaRPr/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transmission line of infinite length, what happens when a battery is connected?</a:t>
            </a:r>
            <a:endParaRPr/>
          </a:p>
        </p:txBody>
      </p:sp>
      <p:pic>
        <p:nvPicPr>
          <p:cNvPr id="93" name="Google Shape;93;p19" title="Screenshot 2025-10-07 at 5.59.20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2075" y="2028825"/>
            <a:ext cx="641985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9" title="Screenshot 2025-10-07 at 5.59.5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41875" y="3114675"/>
            <a:ext cx="2800350" cy="116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Transmission Line Models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Zs = input impedance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Zo = characteristic impedance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ZL = load impedance </a:t>
            </a:r>
            <a:endParaRPr/>
          </a:p>
        </p:txBody>
      </p:sp>
      <p:pic>
        <p:nvPicPr>
          <p:cNvPr id="101" name="Google Shape;101;p20" title="Screenshot 2025-10-07 at 6.01.0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007062"/>
            <a:ext cx="3889550" cy="370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1" title="Reflection,000coefficient, =(1_IN-Z0)(ZIN+ZO)=ZlZ--₀ZL+Z0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45851"/>
            <a:ext cx="9143999" cy="26296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dBs and Link Budgets</a:t>
            </a:r>
            <a:endParaRPr/>
          </a:p>
        </p:txBody>
      </p:sp>
      <p:sp>
        <p:nvSpPr>
          <p:cNvPr id="114" name="Google Shape;11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2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dB?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dBs compress the dynamic range and put everything on the same scale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1" name="Google Shape;121;p23" title="Screenshot 2025-11-10 at 4.32.10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0850" y="2016725"/>
            <a:ext cx="5762025" cy="255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Transmit &amp; </a:t>
            </a:r>
            <a:r>
              <a:rPr lang="en"/>
              <a:t>Receive </a:t>
            </a:r>
            <a:r>
              <a:rPr lang="en"/>
              <a:t>Power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28" name="Google Shape;128;p24"/>
          <p:cNvGraphicFramePr/>
          <p:nvPr/>
        </p:nvGraphicFramePr>
        <p:xfrm>
          <a:off x="952500" y="1619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{C1CBE010-3C8A-4F43-9C22-14F049160CDE}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Communication Systems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Received Power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Transmit Power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GSM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-51dBm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Varies @ 900 &amp; 1800MHz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GPS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-155 dBW (-125dBm)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25.6W @ 1573MHz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WiFi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-75 dBm or better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100mW (1W) @ 2.4GHz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Voyager Space Ships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-231dBm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18W @ 8GHz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Thermal Noise</a:t>
            </a:r>
            <a:endParaRPr/>
          </a:p>
        </p:txBody>
      </p:sp>
      <p:sp>
        <p:nvSpPr>
          <p:cNvPr id="134" name="Google Shape;13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5" name="Google Shape;135;p25" title="Screenshot 2025-11-10 at 4.40.39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190625"/>
            <a:ext cx="8229600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Noise Factor &amp; Figure</a:t>
            </a:r>
            <a:endParaRPr/>
          </a:p>
        </p:txBody>
      </p:sp>
      <p:sp>
        <p:nvSpPr>
          <p:cNvPr id="141" name="Google Shape;141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2" name="Google Shape;142;p26" title="Screenshot 2025-11-10 at 4.43.10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7300" y="1240825"/>
            <a:ext cx="5364075" cy="348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 Loss</a:t>
            </a:r>
            <a:endParaRPr/>
          </a:p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 is distance from transmitter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Lambda is c/f </a:t>
            </a:r>
            <a:endParaRPr/>
          </a:p>
        </p:txBody>
      </p:sp>
      <p:pic>
        <p:nvPicPr>
          <p:cNvPr id="149" name="Google Shape;149;p27" title="Screenshot 2025-11-10 at 4.43.3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2100" y="2356550"/>
            <a:ext cx="6019800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 Matching and Smith Charts</a:t>
            </a:r>
            <a:endParaRPr/>
          </a:p>
        </p:txBody>
      </p:sp>
      <p:sp>
        <p:nvSpPr>
          <p:cNvPr id="155" name="Google Shape;155;p2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 3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2" name="Google Shape;162;p29" title="Screenshot 2025-11-18 at 1.43.0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563" y="1116139"/>
            <a:ext cx="8026875" cy="2911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Inductance and Capacitance</a:t>
            </a:r>
            <a:endParaRPr/>
          </a:p>
        </p:txBody>
      </p:sp>
      <p:sp>
        <p:nvSpPr>
          <p:cNvPr id="168" name="Google Shape;168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+j (up the smith chart)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-j (down the shirt)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9" name="Google Shape;169;p30"/>
          <p:cNvGraphicFramePr/>
          <p:nvPr/>
        </p:nvGraphicFramePr>
        <p:xfrm>
          <a:off x="952500" y="2231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{C1CBE010-3C8A-4F43-9C22-14F049160CDE}</a:tableStyleId>
              </a:tblPr>
              <a:tblGrid>
                <a:gridCol w="2413000"/>
                <a:gridCol w="2413000"/>
                <a:gridCol w="2413000"/>
              </a:tblGrid>
              <a:tr h="359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Series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Shunt (Parallel)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39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-j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+ j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39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+ j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-j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70" name="Google Shape;170;p30" title="Screenshot 2025-11-18 at 1.45.5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9150" y="2826113"/>
            <a:ext cx="1551063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30" title="Screenshot 2025-11-18 at 1.45.4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9150" y="3830875"/>
            <a:ext cx="1551075" cy="500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31" title="Screenshot 2025-11-18 at 1.54.0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2614" y="0"/>
            <a:ext cx="465877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3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